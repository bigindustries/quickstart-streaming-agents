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21"/>
    <p:restoredTop sz="94618"/>
  </p:normalViewPr>
  <p:slideViewPr>
    <p:cSldViewPr snapToGrid="0" snapToObjects="1">
      <p:cViewPr varScale="1">
        <p:scale>
          <a:sx n="150" d="100"/>
          <a:sy n="150" d="100"/>
        </p:scale>
        <p:origin x="384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4C2FA-F58E-3D4F-959B-48D9D2BE2C83}" type="datetimeFigureOut">
              <a:rPr lang="en-BE" smtClean="0"/>
              <a:t>10/06/2026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2525D-D383-EF48-9A7E-54AE9D8CD58E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7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72525D-D383-EF48-9A7E-54AE9D8CD58E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0861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1E3"/>
                </a:solidFill>
                <a:latin typeface="Helvetica Neue"/>
              </a:rPr>
              <a:t>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34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1D1D1F"/>
                </a:solidFill>
                <a:latin typeface="Helvetica Neue"/>
              </a:rPr>
              <a:t>Streaming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6344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0" i="0">
                <a:solidFill>
                  <a:srgbClr val="0071E3"/>
                </a:solidFill>
                <a:latin typeface="Helvetica Neue"/>
              </a:rPr>
              <a:t>on Confluent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43400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Real-time AI pipelines  ·  Apache Kafka  ·  Apache Flink  ·  LLM Tool Calling  ·  RAG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3258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1E3"/>
                </a:solidFill>
                <a:latin typeface="Helvetica Neue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Helvetica Neue"/>
              </a:rPr>
              <a:t>Kafka &amp; Flink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5448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Topology for this workshop · Streaming Agent SQL functions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9900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1E3"/>
                </a:solidFill>
                <a:latin typeface="Helvetica Neue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718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Helvetica Neue"/>
              </a:rPr>
              <a:t>LLMs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01752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Tool Calling · MCP · RAG · Vector Search ·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5196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4453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71E3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434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D1D1F"/>
                </a:solidFill>
                <a:latin typeface="Helvetica Neue"/>
              </a:rPr>
              <a:t>Confluent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4805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Platform components · shared workshop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71500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31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1E3"/>
                </a:solidFill>
                <a:latin typeface="Helvetica Neue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15768"/>
            <a:ext cx="11183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D1D1F"/>
                </a:solidFill>
                <a:latin typeface="Helvetica Neue"/>
              </a:rPr>
              <a:t>Kafka &amp; Flink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904487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E6E73"/>
                </a:solidFill>
                <a:latin typeface="Helvetica Neue"/>
              </a:rPr>
              <a:t>The data backbone and AI 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572000"/>
            <a:ext cx="10972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Kafka — The Event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You know Kafka. Here's the topology for this workshop.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WORKSHOP 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6E"/>
                </a:solidFill>
                <a:latin typeface="Courier New"/>
              </a:rPr>
              <a:t>orders · products ·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81965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Organizer publishes; participants join &amp; enrich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13432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6E"/>
                </a:solidFill>
                <a:latin typeface="Courier New"/>
              </a:rPr>
              <a:t>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441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Organizer pushes Flink docs for Lab 2 RAG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0449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6E"/>
                </a:solidFill>
                <a:latin typeface="Courier New"/>
              </a:rPr>
              <a:t>queries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3063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Participants publish their questions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557016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366674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6E"/>
                </a:solidFill>
                <a:latin typeface="Courier New"/>
              </a:rPr>
              <a:t>search_results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6850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Vector search matches — scored chunks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1788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2885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3A6E"/>
                </a:solidFill>
                <a:latin typeface="Courier New"/>
              </a:rPr>
              <a:t>search_results_response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3068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Final RAG answer per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0060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1371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SCHEMA REGISTRY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1914441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1768137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Avro schemas enforced on the queries topic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504736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0" y="235843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Flink ML_PREDICT &amp; agents require registered schemas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3120178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0" y="297387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D1D1F"/>
                </a:solidFill>
                <a:latin typeface="Helvetica Neue"/>
              </a:rPr>
              <a:t>Producers register once; consumers verify at read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3774270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0" y="3627966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D1D1F"/>
                </a:solidFill>
                <a:latin typeface="Helvetica Neue"/>
              </a:rPr>
              <a:t>Prevents bad data from reaching downstream jobs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Flink Streaming Agent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AI built into SQL — LLMs and agents run inline inside Flink jobs, per Kafka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5389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1E3"/>
                </a:solidFill>
                <a:latin typeface="Courier New"/>
              </a:rPr>
              <a:t>ML_PREDICT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490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Call an LLM inline in SELECT — one shot, no tools.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84248"/>
            <a:ext cx="10543032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075688"/>
            <a:ext cx="102138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6E"/>
                </a:solidFill>
                <a:latin typeface="Courier New"/>
              </a:rPr>
              <a:t>SELECT ML_PREDICT('llm_textgen_model', question, MAP['debug','true'])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42616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770632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1E3"/>
                </a:solidFill>
                <a:latin typeface="Courier New"/>
              </a:rPr>
              <a:t>AI_TOOL_INVOKE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807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Single LLM call with MCP tool access — decide and act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00984"/>
            <a:ext cx="10543032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392424"/>
            <a:ext cx="102138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6E"/>
                </a:solidFill>
                <a:latin typeface="Courier New"/>
              </a:rPr>
              <a:t>SELECT AI_TOOL_INVOKE('remote_mcp_model', prompt, MAP[], tools, opts)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959352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087368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1E3"/>
                </a:solidFill>
                <a:latin typeface="Courier New"/>
              </a:rPr>
              <a:t>AI_RUN_AGENT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123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Full agentic loop per row — reason → act → observe → repeat.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617720"/>
            <a:ext cx="10543032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4709160"/>
            <a:ext cx="102138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6E"/>
                </a:solidFill>
                <a:latin typeface="Courier New"/>
              </a:rPr>
              <a:t>SELECT AI_RUN_AGENT('price_match_agent', prompt, order_id, MAP['debug','true'])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27608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5404104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1E3"/>
                </a:solidFill>
                <a:latin typeface="Courier New"/>
              </a:rPr>
              <a:t>CREATE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5440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Define a reusable agent: model + system prompt + allowed tools.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934456"/>
            <a:ext cx="10543032" cy="493776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6025896"/>
            <a:ext cx="102138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6E"/>
                </a:solidFill>
                <a:latin typeface="Courier New"/>
              </a:rPr>
              <a:t>CREATE AGENT price_match_agent USING MODEL m USING PROMPT '...' USING TOOLS 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592824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31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1E3"/>
                </a:solidFill>
                <a:latin typeface="Helvetica Neue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15768"/>
            <a:ext cx="11183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D1D1F"/>
                </a:solidFill>
                <a:latin typeface="Helvetica Neue"/>
              </a:rPr>
              <a:t>LLMs &amp;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904487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E6E73"/>
                </a:solidFill>
                <a:latin typeface="Helvetica Neue"/>
              </a:rPr>
              <a:t>The reasoning engines behind streaming agents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572000"/>
            <a:ext cx="10972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Neural networks that understand language, reason over context, and invoke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LLM PROVIDERS IN THIS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82496"/>
            <a:ext cx="5943600" cy="74980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7393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Helvetica Neue"/>
              </a:rPr>
              <a:t>AWS Bedrock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810512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Claude Sonnet 4.5  ·  IAM-based auth  ·  Per-token billing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78608"/>
            <a:ext cx="5943600" cy="749808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67004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Helvetica Neue"/>
              </a:rPr>
              <a:t>Azure OpenAI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706624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GPT-4 / GPT-5  ·  Endpoint + API key  ·  Your Azure subscription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37160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PROMPT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828800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0" y="1682496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System prompt — role, constraints, output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368296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222199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User prompt — per-record context injected per Kafka row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2907792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2761488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Tool descriptions — LLM reads these to choose the right tool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3447288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3300984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Output format matters — use REGEXP_EXTRACT to parse results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Open protocol for LLMs to discover and call external tools — any model, any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REQUEST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965960" cy="74980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783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Flink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664208"/>
            <a:ext cx="1965960" cy="74980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1737360"/>
            <a:ext cx="1783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AI_TOOL_INVOKE
or AI_RUN_AGENT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11496" y="1664208"/>
            <a:ext cx="1965960" cy="74980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2936" y="1737360"/>
            <a:ext cx="1783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remote-mcp-
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8624" y="1664208"/>
            <a:ext cx="1965960" cy="74980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0064" y="1737360"/>
            <a:ext cx="1783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MCP Server
(Lambda)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5752" y="1664208"/>
            <a:ext cx="1965960" cy="749808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737360"/>
            <a:ext cx="1783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Tool
http_get / send_email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743200"/>
            <a:ext cx="3422904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880360"/>
            <a:ext cx="3422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1E3"/>
                </a:solidFill>
                <a:latin typeface="Helvetica Neue"/>
              </a:rPr>
              <a:t>MCP Tool Contract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3456432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1832" y="3337560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Name + description — LLM reads this to decide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68496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1832" y="3849624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Input JSON schema — what params to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480560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" y="4361688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Defined in CREATE TOOL or Flink connection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3024" y="2743200"/>
            <a:ext cx="3422904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3024" y="2880360"/>
            <a:ext cx="342290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0071E3"/>
                </a:solidFill>
                <a:latin typeface="Helvetica Neue"/>
              </a:rPr>
              <a:t>Backends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3024" y="3456432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47616" y="3337560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Confluent-hosted MCP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3024" y="3968496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47616" y="3849624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D1D1F"/>
                </a:solidFill>
                <a:latin typeface="Helvetica Neue"/>
              </a:rPr>
              <a:t>Big Industries' remote MCP server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3024" y="4480560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47616" y="4361688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D1D1F"/>
                </a:solidFill>
                <a:latin typeface="Helvetica Neue"/>
              </a:rPr>
              <a:t>Zapier — 7000+ app integrations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88808" y="2743200"/>
            <a:ext cx="3422904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88808" y="2880360"/>
            <a:ext cx="34229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1E3"/>
                </a:solidFill>
                <a:latin typeface="Helvetica Neue"/>
              </a:rPr>
              <a:t>Why MCP?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8808" y="3456432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153400" y="3337560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Swap tools without changing the agent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88808" y="3968496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53400" y="3849624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Same protocol for any LLM provider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88808" y="4480560"/>
            <a:ext cx="50292" cy="50292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153400" y="4361688"/>
            <a:ext cx="32583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Every tool call is logged and auditable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Embeddings &amp; Vector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Represent meaning as numbers — find similar content without keyword matching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WHAT IS AN EMBEDDING?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21756"/>
            <a:ext cx="537734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D1D1F"/>
                </a:solidFill>
                <a:latin typeface="Helvetica Neue"/>
              </a:rPr>
              <a:t>An embedding is a vector of floats encoding the semantic meaning of text. Similar meanings → vectors close in space. Different meanings → vectors far apart.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634740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88436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D1D1F"/>
                </a:solidFill>
                <a:latin typeface="Helvetica Neue"/>
              </a:rPr>
              <a:t>llm_embedding_model</a:t>
            </a:r>
            <a:r>
              <a:rPr sz="1400" b="0" i="0" dirty="0">
                <a:solidFill>
                  <a:srgbClr val="1D1D1F"/>
                </a:solidFill>
                <a:latin typeface="Helvetica Neue"/>
              </a:rPr>
              <a:t> converts text to vectors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3235579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3089275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Flink writes vectors to documents_embed topic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877056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730752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MongoDB Sink stores them with a vector index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4485809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4339505"/>
            <a:ext cx="5212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Query vectors compared at search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HOW VECTOR SEARCH WORKS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6642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7739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1  Embed 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7922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User query → float vector via embedding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30428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24140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2  ANN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43230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Approximate Nearest Neighbour search in the index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4436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30540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3  Retrieve Top-K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30723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Most similar document chunks returned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58444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6941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4  Build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7124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Chunks injected into the LLM prompt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22452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43342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1D1F"/>
                </a:solidFill>
                <a:latin typeface="Helvetica Neue"/>
              </a:rPr>
              <a:t>5  Generate Answer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35254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LLM answers using retrieved context (RAG)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8646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65AE9C-7079-FDDB-E892-8BC0B1E9CD89}"/>
              </a:ext>
            </a:extLst>
          </p:cNvPr>
          <p:cNvSpPr/>
          <p:nvPr/>
        </p:nvSpPr>
        <p:spPr>
          <a:xfrm>
            <a:off x="749808" y="1984248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Ground LLM answers in your own documents — no fine-tuning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DOCUMENT INGESTION  (ORGANIZER, RUNS ONCE)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64208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documents
(Kafka)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0632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664208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173736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Flink
embedding job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11496" y="1664208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02936" y="173736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documents_embed
(Kafka)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78624" y="1664208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70064" y="173736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MongoDB Sink
Connector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1865376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45752" y="1664208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73736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MongoDB Atlas
vector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6060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QUERY PIPELINE  (PARTICIPANTS)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926080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29992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queries
(Kafka)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3127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44368" y="2926080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35808" y="29992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Flink embed
+ vector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127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11496" y="2926080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202936" y="29992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search_results
(Kafka)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3127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78624" y="2926080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70064" y="29992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Flink RAG
(LLM answer)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72016" y="3127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E6E73"/>
                </a:solidFill>
                <a:latin typeface="Helvetica Neue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45752" y="2926080"/>
            <a:ext cx="1965960" cy="713232"/>
          </a:xfrm>
          <a:prstGeom prst="rect">
            <a:avLst/>
          </a:prstGeom>
          <a:solidFill>
            <a:srgbClr val="F5F5F7"/>
          </a:solidFill>
          <a:ln w="635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37192" y="29992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1D1F"/>
                </a:solidFill>
                <a:latin typeface="Helvetica Neue"/>
              </a:rPr>
              <a:t>search_results
_response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31920"/>
            <a:ext cx="9144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dirty="0">
                <a:solidFill>
                  <a:srgbClr val="0071E3"/>
                </a:solidFill>
                <a:latin typeface="Helvetica Neue"/>
              </a:rPr>
              <a:t>WE CAN </a:t>
            </a:r>
            <a:r>
              <a:rPr sz="1100" b="0" i="0" dirty="0">
                <a:solidFill>
                  <a:srgbClr val="0071E3"/>
                </a:solidFill>
                <a:latin typeface="Helvetica Neue"/>
              </a:rPr>
              <a:t>TRY IT</a:t>
            </a:r>
            <a:r>
              <a:rPr lang="en-US" sz="1100" b="0" i="0" dirty="0">
                <a:solidFill>
                  <a:srgbClr val="0071E3"/>
                </a:solidFill>
                <a:latin typeface="Helvetica Neue"/>
              </a:rPr>
              <a:t> WITH SOMETHING LIKE</a:t>
            </a:r>
            <a:endParaRPr sz="1100" b="0" i="0" dirty="0">
              <a:solidFill>
                <a:srgbClr val="0071E3"/>
              </a:solidFill>
              <a:latin typeface="Helvetica Neue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77240" y="4224528"/>
            <a:ext cx="10634472" cy="530352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" y="4315968"/>
            <a:ext cx="10305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3A6E"/>
                </a:solidFill>
                <a:latin typeface="Courier New"/>
              </a:rPr>
              <a:t>uv run publish-queries "How do window functions work in Flink SQL?"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98348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WHY RAG?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431536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285232"/>
            <a:ext cx="51343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No fine-tuning — update documents, not the model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" y="5897880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" y="5751576"/>
            <a:ext cx="51343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Answers traceable to specific source chunks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" y="6364224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20" y="6217920"/>
            <a:ext cx="513435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D1D1F"/>
                </a:solidFill>
                <a:latin typeface="Helvetica Neue"/>
              </a:rPr>
              <a:t>Keeps proprietary data inside your infrastructure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Efficient similarity search over high-dimensional embeddings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THIS WORKSHOP — MONGODB ATLAS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5943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D1D1F"/>
                </a:solidFill>
                <a:latin typeface="Helvetica Neue"/>
              </a:rPr>
              <a:t>MongoDB Atlas stores document embeddings alongside source text. The Confluent MongoDB Sink Connector streams </a:t>
            </a:r>
            <a:r>
              <a:rPr sz="1200" b="0" i="0" dirty="0" err="1">
                <a:solidFill>
                  <a:srgbClr val="1D1D1F"/>
                </a:solidFill>
                <a:latin typeface="Helvetica Neue"/>
              </a:rPr>
              <a:t>documents_embed</a:t>
            </a:r>
            <a:r>
              <a:rPr sz="1200" b="0" i="0" dirty="0">
                <a:solidFill>
                  <a:srgbClr val="1D1D1F"/>
                </a:solidFill>
                <a:latin typeface="Helvetica Neue"/>
              </a:rPr>
              <a:t> → Atlas automatically. Atlas Vector Search provides ANN queries in milliseconds.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72757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526453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Full document DB + vector index in one service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331125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184821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Vector Search index on the embedding field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14216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867912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Metadata filters combine with vector similarity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47099"/>
            <a:ext cx="54864" cy="54864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500795"/>
            <a:ext cx="5760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Connector writes automatically — no ETL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VECTOR DB LANDSCAPE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16642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1892808"/>
            <a:ext cx="64008" cy="6400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17739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Helvetica Neue"/>
              </a:rPr>
              <a:t>MongoDB Atlas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792224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6E6E73"/>
                </a:solidFill>
                <a:latin typeface="Helvetica Neue"/>
              </a:rPr>
              <a:t>Document DB + vector index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340864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0" y="2569464"/>
            <a:ext cx="64008" cy="6400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20" y="24505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Pinecone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46888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Purpose-built vector DB, serverless tiers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01752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0" y="3246120"/>
            <a:ext cx="64008" cy="6400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60920" y="312724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pgvector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4553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Postgres extension — kNN search in 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694176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132320" y="3922776"/>
            <a:ext cx="64008" cy="6400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60920" y="380390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Weaviate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8221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Graph + vector, schema-first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370832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132320" y="4599432"/>
            <a:ext cx="64008" cy="6400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20" y="4480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D1D1F"/>
                </a:solidFill>
                <a:latin typeface="Helvetica Neue"/>
              </a:rPr>
              <a:t>Elasticsearch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49884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E6E73"/>
                </a:solidFill>
                <a:latin typeface="Helvetica Neue"/>
              </a:rPr>
              <a:t>kNN added to full-text search engine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4748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LLMs that plan, act, and observe — in a loop — until the goal is reached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THE REACT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10634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1D1F"/>
                </a:solidFill>
                <a:latin typeface="Helvetica Neue"/>
              </a:rPr>
              <a:t>Reason  →  Act  →  Observe  →  Repeat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521458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2521458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2521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1D1F"/>
                </a:solidFill>
                <a:latin typeface="Helvetica Neue"/>
              </a:rP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5214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Helvetica Neue"/>
              </a:rPr>
              <a:t>Analyse input
Decide next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8698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1E3"/>
                </a:solidFill>
                <a:latin typeface="Helvetica Neue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1578" y="2331720"/>
            <a:ext cx="2521458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81578" y="2331720"/>
            <a:ext cx="2521458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1578" y="2487168"/>
            <a:ext cx="2521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1D1F"/>
                </a:solidFill>
                <a:latin typeface="Helvetica Neue"/>
              </a:rP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1578" y="2926080"/>
            <a:ext cx="25214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Helvetica Neue"/>
              </a:rPr>
              <a:t>Invoke a tool
via MCP or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3036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1E3"/>
                </a:solidFill>
                <a:latin typeface="Helvetica Neue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5916" y="2331720"/>
            <a:ext cx="2521458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5916" y="2331720"/>
            <a:ext cx="2521458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5916" y="2487168"/>
            <a:ext cx="2521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1D1F"/>
                </a:solidFill>
                <a:latin typeface="Helvetica Neue"/>
              </a:rPr>
              <a:t>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5916" y="2926080"/>
            <a:ext cx="25214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Helvetica Neue"/>
              </a:rPr>
              <a:t>Read tool output
Update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7374" y="265176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71E3"/>
                </a:solidFill>
                <a:latin typeface="Helvetica Neue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254" y="2331720"/>
            <a:ext cx="2521458" cy="109728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90254" y="2331720"/>
            <a:ext cx="2521458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90254" y="2487168"/>
            <a:ext cx="2521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D1D1F"/>
                </a:solidFill>
                <a:latin typeface="Helvetica Neue"/>
              </a:rPr>
              <a:t>Repeat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254" y="2926080"/>
            <a:ext cx="252145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E6E73"/>
                </a:solidFill>
                <a:latin typeface="Helvetica Neue"/>
              </a:rPr>
              <a:t>Loop until
goal achieved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49039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71E3"/>
                </a:solidFill>
                <a:latin typeface="Helvetica Neue"/>
              </a:rPr>
              <a:t>AGENT CONTROLS IN CONFLUENT FLINK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40690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4178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Courier New"/>
              </a:rPr>
              <a:t>MAX_ITERATIONS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206240"/>
            <a:ext cx="23911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Cap the loop — prevent runaway agents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690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94476" y="41788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Courier New"/>
              </a:rPr>
              <a:t>max_consecutive_failures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91956" y="4206240"/>
            <a:ext cx="23911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Stop after N consecutive tool errors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9834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5093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Courier New"/>
              </a:rPr>
              <a:t>System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120640"/>
            <a:ext cx="23911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Role, output format, constraints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9834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94476" y="50932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1E3"/>
                </a:solidFill>
                <a:latin typeface="Courier New"/>
              </a:rPr>
              <a:t>Tool Descriptions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1956" y="5120640"/>
            <a:ext cx="23911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LLM reads these to choose the right tool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8978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317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1E3"/>
                </a:solidFill>
                <a:latin typeface="Helvetica Neue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2715768"/>
            <a:ext cx="11183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1D1D1F"/>
                </a:solidFill>
                <a:latin typeface="Helvetica Neue"/>
              </a:rPr>
              <a:t>Confluent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3904487"/>
            <a:ext cx="11183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6E6E73"/>
                </a:solidFill>
                <a:latin typeface="Helvetica Neue"/>
              </a:rPr>
              <a:t>Fully managed Kafka · Flink · Connectors ·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572000"/>
            <a:ext cx="1097280" cy="254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634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D1D1F"/>
                </a:solidFill>
                <a:latin typeface="Helvetica Neue"/>
              </a:rPr>
              <a:t>Confluent Cloud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96112"/>
            <a:ext cx="106344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E6E73"/>
                </a:solidFill>
                <a:latin typeface="Helvetica Neue"/>
              </a:rPr>
              <a:t>Fully managed Kafka · Flink · Connectors · AI —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0700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35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Kafka Cluster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53896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Managed Apache Kafka. Store and stream events at any scale.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325880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4476" y="1435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Flink Compute Pool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6196" y="1453896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Run SQL jobs &amp; agents. Auto-scales; no infra to manage.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98424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0939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Schema Registry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112264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Central schema catalogue. Enforce contracts across all services.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1984248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4476" y="20939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Connectors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6196" y="2112264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100+ pre-built connectors. MongoDB Sink used in Lab 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642616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752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770632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Logical boundary. Clusters, Flink pools, schemas inside.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642616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4476" y="27523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API Keys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6196" y="2770632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Kafka, Schema Registry, Flink — each scoped separately.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300984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410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LLM Connections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3429000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Register Bedrock / Azure OpenAI endpoints for ML_PREDICT.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300984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94476" y="341071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D1D1F"/>
                </a:solidFill>
                <a:latin typeface="Helvetica Neue"/>
              </a:rPr>
              <a:t>MCP Connections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6196" y="3429000"/>
            <a:ext cx="2756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E6E73"/>
                </a:solidFill>
                <a:latin typeface="Helvetica Neue"/>
              </a:rPr>
              <a:t>Register remote MCP servers for AI tool calling in Flink.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59352"/>
            <a:ext cx="10634472" cy="6350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9900"/>
            <a:ext cx="12188952" cy="38100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920240"/>
            <a:ext cx="1063447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 dirty="0">
                <a:solidFill>
                  <a:srgbClr val="1D1D1F"/>
                </a:solidFill>
                <a:latin typeface="Helvetica Neue"/>
              </a:rPr>
              <a:t>Let's build</a:t>
            </a:r>
            <a:r>
              <a:rPr lang="en-US" sz="8000" b="1" i="0" dirty="0">
                <a:solidFill>
                  <a:srgbClr val="1D1D1F"/>
                </a:solidFill>
                <a:latin typeface="Helvetica Neue"/>
              </a:rPr>
              <a:t> &amp; test</a:t>
            </a:r>
            <a:endParaRPr sz="8000" b="1" i="0" dirty="0">
              <a:solidFill>
                <a:srgbClr val="1D1D1F"/>
              </a:solidFill>
              <a:latin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10634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0071E3"/>
                </a:solidFill>
                <a:latin typeface="Helvetica Neue"/>
              </a:rPr>
              <a:t>Streaming Agents on Confluent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297680"/>
            <a:ext cx="10634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E6E73"/>
                </a:solidFill>
                <a:latin typeface="Helvetica Neue"/>
              </a:rPr>
              <a:t>github.com/BigIndustries/quickstart-streaming-agents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1199</Words>
  <Application>Microsoft Macintosh PowerPoint</Application>
  <PresentationFormat>Custom</PresentationFormat>
  <Paragraphs>203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Sandeep Singh</cp:lastModifiedBy>
  <cp:revision>4</cp:revision>
  <dcterms:created xsi:type="dcterms:W3CDTF">2013-01-27T09:14:16Z</dcterms:created>
  <dcterms:modified xsi:type="dcterms:W3CDTF">2026-06-10T19:02:43Z</dcterms:modified>
  <cp:category/>
</cp:coreProperties>
</file>